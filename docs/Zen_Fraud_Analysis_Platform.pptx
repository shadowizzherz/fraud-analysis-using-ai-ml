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2926080" cy="347472"/>
          </a:xfrm>
          <a:prstGeom prst="roundRect">
            <a:avLst/>
          </a:prstGeom>
          <a:solidFill>
            <a:srgbClr val="FFE5DE"/>
          </a:solidFill>
          <a:ln w="12700">
            <a:solidFill>
              <a:srgbClr val="B84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B8431E"/>
                </a:solidFill>
              </a:defRPr>
            </a:pPr>
            <a:r>
              <a:t>● AI/ML FRAUD INTELLIGENCE ·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1C1A"/>
                </a:solidFill>
              </a:defRPr>
            </a:pPr>
            <a:r>
              <a:t>Zen &amp; ZenPay</a:t>
            </a:r>
          </a:p>
          <a:p>
            <a:pPr>
              <a:defRPr sz="2100" b="1">
                <a:solidFill>
                  <a:srgbClr val="B8431E"/>
                </a:solidFill>
              </a:defRPr>
            </a:pPr>
            <a:r>
              <a:t>Autonomous Fraud Defense &amp; Real-Time Payment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1C1A"/>
                </a:solidFill>
              </a:defRPr>
            </a:pPr>
            <a:r>
              <a:t>•  Sub-Millisecond Scoring: </a:t>
            </a:r>
            <a:r>
              <a:rPr b="0" sz="1150">
                <a:solidFill>
                  <a:srgbClr val="645F58"/>
                </a:solidFill>
              </a:rPr>
              <a:t>Evaluates velocity, amount outliers, impossible travel, and mule patterns live.</a:t>
            </a:r>
          </a:p>
          <a:p>
            <a:pPr>
              <a:defRPr b="1" sz="1200">
                <a:solidFill>
                  <a:srgbClr val="1B1C1A"/>
                </a:solidFill>
              </a:defRPr>
            </a:pPr>
            <a:r>
              <a:t>•  Synchronized Native Ecosystem: </a:t>
            </a:r>
            <a:r>
              <a:rPr b="0" sz="1150">
                <a:solidFill>
                  <a:srgbClr val="645F58"/>
                </a:solidFill>
              </a:rPr>
              <a:t>Standalone ZenPay Android client (P2P + UPI) connected to SOC web console.</a:t>
            </a:r>
          </a:p>
          <a:p>
            <a:pPr>
              <a:defRPr b="1" sz="1200">
                <a:solidFill>
                  <a:srgbClr val="1B1C1A"/>
                </a:solidFill>
              </a:defRPr>
            </a:pPr>
            <a:r>
              <a:t>•  Autonomous Enforcement: </a:t>
            </a:r>
            <a:r>
              <a:rPr b="0" sz="1150">
                <a:solidFill>
                  <a:srgbClr val="645F58"/>
                </a:solidFill>
              </a:rPr>
              <a:t>Zero-latency auto-freeze engine halting compromised instruments in &lt; 40ms.</a:t>
            </a:r>
          </a:p>
          <a:p>
            <a:pPr>
              <a:defRPr b="1" sz="1200">
                <a:solidFill>
                  <a:srgbClr val="1B1C1A"/>
                </a:solidFill>
              </a:defRPr>
            </a:pPr>
            <a:r>
              <a:t>•  Audit-Ready Observability: </a:t>
            </a:r>
            <a:r>
              <a:rPr b="0" sz="1150">
                <a:solidFill>
                  <a:srgbClr val="645F58"/>
                </a:solidFill>
              </a:rPr>
              <a:t>Complete trace telemetry, case dossiers, and analyst review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60"/>
            <a:ext cx="5852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8431E"/>
                </a:solidFill>
              </a:defRPr>
            </a:pPr>
            <a:r>
              <a:t>PRODUCTION-READY HYBRID STACK</a:t>
            </a:r>
          </a:p>
          <a:p>
            <a:pPr>
              <a:defRPr sz="1100">
                <a:solidFill>
                  <a:srgbClr val="1B1C1A"/>
                </a:solidFill>
              </a:defRPr>
            </a:pPr>
            <a:r>
              <a:t>Python (NiceGUI + FastAPI + Asyncio)  |  Kotlin Native Android  |  Cloudflare Tunnel  |  Supabase 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731520"/>
            <a:ext cx="45720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914400"/>
            <a:ext cx="4297680" cy="2686050"/>
          </a:xfrm>
          <a:prstGeom prst="rect">
            <a:avLst/>
          </a:prstGeom>
        </p:spPr>
      </p:pic>
      <p:pic>
        <p:nvPicPr>
          <p:cNvPr id="9" name="Picture 8" descr="app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926080"/>
            <a:ext cx="1392702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95160" y="5715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5F58"/>
                </a:solidFill>
              </a:defRPr>
            </a:pPr>
            <a:r>
              <a:t>Live Console &amp; Mobile Simulator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FFE5DE"/>
          </a:solidFill>
          <a:ln w="12700">
            <a:solidFill>
              <a:srgbClr val="B84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B8431E"/>
                </a:solidFill>
              </a:defRPr>
            </a:pPr>
            <a:r>
              <a:t>MOBILE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1B1C1A"/>
                </a:solidFill>
              </a:defRPr>
            </a:pPr>
            <a:r>
              <a:t>ZenPay Android: User-to-User P2P &amp; UPI Simulation</a:t>
            </a:r>
          </a:p>
          <a:p>
            <a:pPr>
              <a:defRPr sz="1250">
                <a:solidFill>
                  <a:srgbClr val="645F58"/>
                </a:solidFill>
              </a:defRPr>
            </a:pPr>
            <a:r>
              <a:t>Native Kotlin client supporting wallet management, direct ID transfers, and camera QR scanning.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5F58"/>
                </a:solidFill>
              </a:defRPr>
            </a:pPr>
            <a:r>
              <a:t>02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3774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2067951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383280" y="1737360"/>
            <a:ext cx="23774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my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828800"/>
            <a:ext cx="2067951" cy="4480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737360"/>
            <a:ext cx="5394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B8431E"/>
                </a:solidFill>
              </a:defRPr>
            </a:pPr>
            <a:r>
              <a:t>1. Device-Generated ZenPay Wallet ID</a:t>
            </a:r>
          </a:p>
          <a:p>
            <a:pPr>
              <a:defRPr sz="1100">
                <a:solidFill>
                  <a:srgbClr val="1B1C1A"/>
                </a:solidFill>
              </a:defRPr>
            </a:pPr>
            <a:r>
              <a:t>Generates a persistent 15-digit wallet identity on first launch. Users can share their formatted ID or display a dynamic QR code for immediate peer transfers.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337560"/>
            <a:ext cx="5394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B8431E"/>
                </a:solidFill>
              </a:defRPr>
            </a:pPr>
            <a:r>
              <a:t>2. Offline-First &amp; Cloud Sync Architecture</a:t>
            </a:r>
          </a:p>
          <a:p>
            <a:pPr>
              <a:defRPr sz="1100">
                <a:solidFill>
                  <a:srgbClr val="1B1C1A"/>
                </a:solidFill>
              </a:defRPr>
            </a:pPr>
            <a:r>
              <a:t>Functions completely local with standalone device-side Luhn checks and fallback scoring, but connects to the Cloudflare tunnel for live telemetry sync to the fraud ops desk.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937760"/>
            <a:ext cx="5394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B8431E"/>
                </a:solidFill>
              </a:defRPr>
            </a:pPr>
            <a:r>
              <a:t>3. Sandbox Safety Guarantee</a:t>
            </a:r>
          </a:p>
          <a:p>
            <a:pPr>
              <a:defRPr sz="1100">
                <a:solidFill>
                  <a:srgbClr val="1B1C1A"/>
                </a:solidFill>
              </a:defRPr>
            </a:pPr>
            <a:r>
              <a:t>Only accepts verified sandbox test PANs (Stripe/Razorpay test-sets) and stamps payee handles with non-resolvable '@fakebank' domains, guaranteeing no real money can ever move.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FFE5DE"/>
          </a:solidFill>
          <a:ln w="12700">
            <a:solidFill>
              <a:srgbClr val="B84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B8431E"/>
                </a:solidFill>
              </a:defRPr>
            </a:pPr>
            <a:r>
              <a:t>TRANSACTION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1B1C1A"/>
                </a:solidFill>
              </a:defRPr>
            </a:pPr>
            <a:r>
              <a:t>Mobile Audit Trail &amp; Real-Time Risk Feedback</a:t>
            </a:r>
          </a:p>
          <a:p>
            <a:pPr>
              <a:defRPr sz="1250">
                <a:solidFill>
                  <a:srgbClr val="645F58"/>
                </a:solidFill>
              </a:defRPr>
            </a:pPr>
            <a:r>
              <a:t>Every transaction is scored and badged with instant explanation chips before analyst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5F58"/>
                </a:solidFill>
              </a:defRPr>
            </a:pPr>
            <a:r>
              <a:t>03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3774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2067951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383280" y="1737360"/>
            <a:ext cx="3931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B8431E"/>
                </a:solidFill>
              </a:defRPr>
            </a:pPr>
            <a:r>
              <a:t>Real-Time Scoring Flow</a:t>
            </a:r>
          </a:p>
          <a:p>
            <a:pPr>
              <a:defRPr b="1" sz="1100">
                <a:solidFill>
                  <a:srgbClr val="1B1C1A"/>
                </a:solidFill>
              </a:defRPr>
            </a:pPr>
            <a:r>
              <a:t>• Step 1: Input &amp; Sanitization</a:t>
            </a:r>
          </a:p>
          <a:p>
            <a:pPr>
              <a:defRPr sz="950">
                <a:solidFill>
                  <a:srgbClr val="645F58"/>
                </a:solidFill>
              </a:defRPr>
            </a:pPr>
            <a:r>
              <a:t>Validates 16-digit PAN via Luhn algorithm, checks expiry &amp; CVV formatting.</a:t>
            </a:r>
          </a:p>
          <a:p>
            <a:pPr>
              <a:defRPr b="1" sz="1100">
                <a:solidFill>
                  <a:srgbClr val="1B1C1A"/>
                </a:solidFill>
              </a:defRPr>
            </a:pPr>
            <a:r>
              <a:t>• Step 2: Local Rule Evaluation</a:t>
            </a:r>
          </a:p>
          <a:p>
            <a:pPr>
              <a:defRPr sz="950">
                <a:solidFill>
                  <a:srgbClr val="645F58"/>
                </a:solidFill>
              </a:defRPr>
            </a:pPr>
            <a:r>
              <a:t>Matches against local device velocity windows and abnormal transfer amounts.</a:t>
            </a:r>
          </a:p>
          <a:p>
            <a:pPr>
              <a:defRPr b="1" sz="1100">
                <a:solidFill>
                  <a:srgbClr val="1B1C1A"/>
                </a:solidFill>
              </a:defRPr>
            </a:pPr>
            <a:r>
              <a:t>• Step 3: Portal Cloud Dispatch</a:t>
            </a:r>
          </a:p>
          <a:p>
            <a:pPr>
              <a:defRPr sz="950">
                <a:solidFill>
                  <a:srgbClr val="645F58"/>
                </a:solidFill>
              </a:defRPr>
            </a:pPr>
            <a:r>
              <a:t>Dispatches transaction asynchronously to /api/portal/pay via HTTP/2 tunnel.</a:t>
            </a:r>
          </a:p>
          <a:p>
            <a:pPr>
              <a:defRPr b="1" sz="1100">
                <a:solidFill>
                  <a:srgbClr val="1B1C1A"/>
                </a:solidFill>
              </a:defRPr>
            </a:pPr>
            <a:r>
              <a:t>• Step 4: Composite Risk Scoring</a:t>
            </a:r>
          </a:p>
          <a:p>
            <a:pPr>
              <a:defRPr sz="950">
                <a:solidFill>
                  <a:srgbClr val="645F58"/>
                </a:solidFill>
              </a:defRPr>
            </a:pPr>
            <a:r>
              <a:t>Receives unified 0.00-1.00 risk score and detector firing rationales.</a:t>
            </a:r>
          </a:p>
          <a:p>
            <a:pPr>
              <a:defRPr b="1" sz="1100">
                <a:solidFill>
                  <a:srgbClr val="1B1C1A"/>
                </a:solidFill>
              </a:defRPr>
            </a:pPr>
            <a:r>
              <a:t>• Step 5: Audit Trail Archival</a:t>
            </a:r>
          </a:p>
          <a:p>
            <a:pPr>
              <a:defRPr sz="950">
                <a:solidFill>
                  <a:srgbClr val="645F58"/>
                </a:solidFill>
              </a:defRPr>
            </a:pPr>
            <a:r>
              <a:t>Stores timestamped receipt in Room/JSON local history store with color badges.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37360"/>
            <a:ext cx="3840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B8431E"/>
                </a:solidFill>
              </a:defRPr>
            </a:pPr>
            <a:r>
              <a:t>Observed Transaction Logs</a:t>
            </a:r>
          </a:p>
          <a:p>
            <a:pPr>
              <a:defRPr b="1" sz="1100">
                <a:solidFill>
                  <a:srgbClr val="1B1C1A"/>
                </a:solidFill>
              </a:defRPr>
            </a:pPr>
            <a:r>
              <a:t>ZenPay Demo Kirana Store — ₹499.00</a:t>
            </a:r>
          </a:p>
          <a:p>
            <a:pPr>
              <a:defRPr b="1" sz="950">
                <a:solidFill>
                  <a:srgbClr val="16A34A"/>
                </a:solidFill>
              </a:defRPr>
            </a:pPr>
            <a:r>
              <a:t>Status: Processed — no risk signals · 0.00</a:t>
            </a:r>
          </a:p>
          <a:p>
            <a:pPr>
              <a:defRPr b="1" sz="1100">
                <a:solidFill>
                  <a:srgbClr val="1B1C1A"/>
                </a:solidFill>
              </a:defRPr>
            </a:pPr>
            <a:r>
              <a:t>Sent to •••5555 (Rapid Transfer) — ₹10,000.00</a:t>
            </a:r>
          </a:p>
          <a:p>
            <a:pPr>
              <a:defRPr b="1" sz="950">
                <a:solidFill>
                  <a:srgbClr val="B8431E"/>
                </a:solidFill>
              </a:defRPr>
            </a:pPr>
            <a:r>
              <a:t>Status: Risk score flagged · 0.18</a:t>
            </a:r>
          </a:p>
          <a:p>
            <a:pPr>
              <a:defRPr b="1" sz="1100">
                <a:solidFill>
                  <a:srgbClr val="1B1C1A"/>
                </a:solidFill>
              </a:defRPr>
            </a:pPr>
            <a:r>
              <a:t>Sent to •••5555 (Micro-probe) — ₹10.00</a:t>
            </a:r>
          </a:p>
          <a:p>
            <a:pPr>
              <a:defRPr b="1" sz="950">
                <a:solidFill>
                  <a:srgbClr val="16A34A"/>
                </a:solidFill>
              </a:defRPr>
            </a:pPr>
            <a:r>
              <a:t>Status: Processed — no risk signals · 0.00</a:t>
            </a:r>
          </a:p>
          <a:p>
            <a:pPr>
              <a:defRPr b="1" sz="1100">
                <a:solidFill>
                  <a:srgbClr val="1B1C1A"/>
                </a:solidFill>
              </a:defRPr>
            </a:pPr>
            <a:r>
              <a:t>Sent to •••2345 (P2P Wallet) — ₹1,000.00</a:t>
            </a:r>
          </a:p>
          <a:p>
            <a:pPr>
              <a:defRPr b="1" sz="950">
                <a:solidFill>
                  <a:srgbClr val="16A34A"/>
                </a:solidFill>
              </a:defRPr>
            </a:pPr>
            <a:r>
              <a:t>Status: Processed — no risk signals · 0.00</a:t>
            </a:r>
          </a:p>
          <a:p>
            <a:br/>
            <a:pPr>
              <a:defRPr b="1" sz="1100">
                <a:solidFill>
                  <a:srgbClr val="1B1C1A"/>
                </a:solidFill>
              </a:defRPr>
            </a:pPr>
            <a:r>
              <a:t>Immediate Analyst Sync:</a:t>
            </a:r>
          </a:p>
          <a:p>
            <a:pPr>
              <a:defRPr sz="950">
                <a:solidFill>
                  <a:srgbClr val="645F58"/>
                </a:solidFill>
              </a:defRPr>
            </a:pPr>
            <a:r>
              <a:t>Every transaction triggered on mobile reflects within 50ms across the SOC dashboard feed and alerts 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FFE5DE"/>
          </a:solidFill>
          <a:ln w="12700">
            <a:solidFill>
              <a:srgbClr val="B84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B8431E"/>
                </a:solidFill>
              </a:defRPr>
            </a:pPr>
            <a:r>
              <a:t>WEB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1B1C1A"/>
                </a:solidFill>
              </a:defRPr>
            </a:pPr>
            <a:r>
              <a:t>Zen Public Portal: High-Conversion Marketing &amp; Auth</a:t>
            </a:r>
          </a:p>
          <a:p>
            <a:pPr>
              <a:defRPr sz="1250">
                <a:solidFill>
                  <a:srgbClr val="645F58"/>
                </a:solidFill>
              </a:defRPr>
            </a:pPr>
            <a:r>
              <a:t>Designed with Warm Civic Minimal aesthetics, lightweight typography, and PKCE OAuth.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5F58"/>
                </a:solidFill>
              </a:defRPr>
            </a:pPr>
            <a:r>
              <a:t>04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858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eb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658368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7373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B8431E"/>
                </a:solidFill>
              </a:defRPr>
            </a:pPr>
            <a:r>
              <a:t>Warm Civic Minimal Visual System</a:t>
            </a:r>
          </a:p>
          <a:p>
            <a:pPr>
              <a:defRPr sz="1000">
                <a:solidFill>
                  <a:srgbClr val="1B1C1A"/>
                </a:solidFill>
              </a:defRPr>
            </a:pPr>
            <a:r>
              <a:t>Tailwind arbitrary values over Quasar base, Plus Jakarta Sans typography, and subtle terracotta accents replacing generic dark-ops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3375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B8431E"/>
                </a:solidFill>
              </a:defRPr>
            </a:pPr>
            <a:r>
              <a:t>Enterprise PKCE Google OAuth</a:t>
            </a:r>
          </a:p>
          <a:p>
            <a:pPr>
              <a:defRPr sz="1000">
                <a:solidFill>
                  <a:srgbClr val="1B1C1A"/>
                </a:solidFill>
              </a:defRPr>
            </a:pPr>
            <a:r>
              <a:t>Supabase Auth with custom public.zen_analysts routing trigger, hand-rolled PKCE code-exchange handshake, and mobile deep-link redirection.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9377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B8431E"/>
                </a:solidFill>
              </a:defRPr>
            </a:pPr>
            <a:r>
              <a:t>Zero Leak Responsive Geometry</a:t>
            </a:r>
          </a:p>
          <a:p>
            <a:pPr>
              <a:defRPr sz="1000">
                <a:solidFill>
                  <a:srgbClr val="1B1C1A"/>
                </a:solidFill>
              </a:defRPr>
            </a:pPr>
            <a:r>
              <a:t>Flex-1 stretch architecture and max-w-[100vw] bounds preventing right-side gutters on desktop monitors while scaling seamlessly down to 360px phones.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FFE5DE"/>
          </a:solidFill>
          <a:ln w="12700">
            <a:solidFill>
              <a:srgbClr val="B84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B8431E"/>
                </a:solidFill>
              </a:defRPr>
            </a:pPr>
            <a:r>
              <a:t>SOC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1B1C1A"/>
                </a:solidFill>
              </a:defRPr>
            </a:pPr>
            <a:r>
              <a:t>Live Ingestion Stream &amp; Real-Time Attack Simulation</a:t>
            </a:r>
          </a:p>
          <a:p>
            <a:pPr>
              <a:defRPr sz="1250">
                <a:solidFill>
                  <a:srgbClr val="645F58"/>
                </a:solidFill>
              </a:defRPr>
            </a:pPr>
            <a:r>
              <a:t>High-throughput WebSocket feed processing 450+ events/min with instant manual scenario injection.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5F58"/>
                </a:solidFill>
              </a:defRPr>
            </a:pPr>
            <a:r>
              <a:t>05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858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eb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658368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7373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B8431E"/>
                </a:solidFill>
              </a:defRPr>
            </a:pPr>
            <a:r>
              <a:t>Real-Time Telemetry &amp; Throughput</a:t>
            </a:r>
          </a:p>
          <a:p>
            <a:pPr>
              <a:defRPr sz="1000">
                <a:solidFill>
                  <a:srgbClr val="1B1C1A"/>
                </a:solidFill>
              </a:defRPr>
            </a:pPr>
            <a:r>
              <a:t>Monitors 450+ transactions/min with 18ms server latency, live rule engine capacity utilization, and rolling 15-minute value-at-risk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3375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B8431E"/>
                </a:solidFill>
              </a:defRPr>
            </a:pPr>
            <a:r>
              <a:t>One-Click Attack Injection</a:t>
            </a:r>
          </a:p>
          <a:p>
            <a:pPr>
              <a:defRPr sz="1000">
                <a:solidFill>
                  <a:srgbClr val="1B1C1A"/>
                </a:solidFill>
              </a:defRPr>
            </a:pPr>
            <a:r>
              <a:t>Allows analysts to stress-test detection pipelines by injecting pre-timed fraud patterns: Velocity Spikes, Amount Outliers, Impossible Travel, and Mule Bursts.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9377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B8431E"/>
                </a:solidFill>
              </a:defRPr>
            </a:pPr>
            <a:r>
              <a:t>Emergency Freeze Circuit Breaker</a:t>
            </a:r>
          </a:p>
          <a:p>
            <a:pPr>
              <a:defRPr sz="1000">
                <a:solidFill>
                  <a:srgbClr val="1B1C1A"/>
                </a:solidFill>
              </a:defRPr>
            </a:pPr>
            <a:r>
              <a:t>Global emergency action instantly halts transactions scoring &gt;= 0.80 across all channels (Online CNP, In-Store POS, UPI, P2P) to contain active outbreaks.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FFE5DE"/>
          </a:solidFill>
          <a:ln w="12700">
            <a:solidFill>
              <a:srgbClr val="B84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B8431E"/>
                </a:solidFill>
              </a:defRPr>
            </a:pPr>
            <a:r>
              <a:t>POLICY &amp;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1B1C1A"/>
                </a:solidFill>
              </a:defRPr>
            </a:pPr>
            <a:r>
              <a:t>Automated Detection Rules &amp; Flagged Alerts Queue</a:t>
            </a:r>
          </a:p>
          <a:p>
            <a:pPr>
              <a:defRPr sz="1250">
                <a:solidFill>
                  <a:srgbClr val="645F58"/>
                </a:solidFill>
              </a:defRPr>
            </a:pPr>
            <a:r>
              <a:t>Multi-engine scoring architecture, configurable auto-freeze thresholds, and full analyst dossier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5F58"/>
                </a:solidFill>
              </a:defRPr>
            </a:pPr>
            <a:r>
              <a:t>06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eb_poli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029200" cy="31432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eb_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51960"/>
            <a:ext cx="5029200" cy="31432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7373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B8431E"/>
                </a:solidFill>
              </a:defRPr>
            </a:pPr>
            <a:r>
              <a:t>The 6 Core Detection Engines</a:t>
            </a:r>
          </a:p>
          <a:p>
            <a:pPr>
              <a:defRPr b="1" sz="1050">
                <a:solidFill>
                  <a:srgbClr val="1B1C1A"/>
                </a:solidFill>
              </a:defRPr>
            </a:pPr>
            <a:r>
              <a:t>• Velocity Spike (Max Weight +0.55)</a:t>
            </a:r>
          </a:p>
          <a:p>
            <a:pPr>
              <a:defRPr sz="900">
                <a:solidFill>
                  <a:srgbClr val="645F58"/>
                </a:solidFill>
              </a:defRPr>
            </a:pPr>
            <a:r>
              <a:t>Flags rapid card reuse (5-9+ transactions within 60s), catching credential stuffing and automated bot script attacks.</a:t>
            </a:r>
          </a:p>
          <a:p>
            <a:pPr>
              <a:defRPr b="1" sz="1050">
                <a:solidFill>
                  <a:srgbClr val="1B1C1A"/>
                </a:solidFill>
              </a:defRPr>
            </a:pPr>
            <a:r>
              <a:t>• Impossible Travel (Max Weight +0.50)</a:t>
            </a:r>
          </a:p>
          <a:p>
            <a:pPr>
              <a:defRPr sz="900">
                <a:solidFill>
                  <a:srgbClr val="645F58"/>
                </a:solidFill>
              </a:defRPr>
            </a:pPr>
            <a:r>
              <a:t>Haversine geodesic distance calculation between sequential transactions, flagging supersonic location hops (e.g. 3,000,000 km/h).</a:t>
            </a:r>
          </a:p>
          <a:p>
            <a:pPr>
              <a:defRPr b="1" sz="1050">
                <a:solidFill>
                  <a:srgbClr val="1B1C1A"/>
                </a:solidFill>
              </a:defRPr>
            </a:pPr>
            <a:r>
              <a:t>• Mule Burst Ring (Max Weight +0.45)</a:t>
            </a:r>
          </a:p>
          <a:p>
            <a:pPr>
              <a:defRPr sz="900">
                <a:solidFill>
                  <a:srgbClr val="645F58"/>
                </a:solidFill>
              </a:defRPr>
            </a:pPr>
            <a:r>
              <a:t>Identifies card fanning small rapid sums across multiple distinct merchants/payees, a classic money-mule laundering signature.</a:t>
            </a:r>
          </a:p>
          <a:p>
            <a:pPr>
              <a:defRPr b="1" sz="1050">
                <a:solidFill>
                  <a:srgbClr val="1B1C1A"/>
                </a:solidFill>
              </a:defRPr>
            </a:pPr>
            <a:r>
              <a:t>• Amount Outlier (Max Weight +0.45)</a:t>
            </a:r>
          </a:p>
          <a:p>
            <a:pPr>
              <a:defRPr sz="900">
                <a:solidFill>
                  <a:srgbClr val="645F58"/>
                </a:solidFill>
              </a:defRPr>
            </a:pPr>
            <a:r>
              <a:t>Online Welford's algorithm tracking running mean and variance in log-space, robust to natural right-skewed spending behaviors.</a:t>
            </a:r>
          </a:p>
          <a:p>
            <a:pPr>
              <a:defRPr b="1" sz="1050">
                <a:solidFill>
                  <a:srgbClr val="1B1C1A"/>
                </a:solidFill>
              </a:defRPr>
            </a:pPr>
            <a:r>
              <a:t>• New Device Fingerprint (Max Weight +0.25)</a:t>
            </a:r>
          </a:p>
          <a:p>
            <a:pPr>
              <a:defRPr sz="900">
                <a:solidFill>
                  <a:srgbClr val="645F58"/>
                </a:solidFill>
              </a:defRPr>
            </a:pPr>
            <a:r>
              <a:t>Detects novel client fingerprints paired with above-average transaction sums.</a:t>
            </a:r>
          </a:p>
          <a:p>
            <a:pPr>
              <a:defRPr b="1" sz="1050">
                <a:solidFill>
                  <a:srgbClr val="1B1C1A"/>
                </a:solidFill>
              </a:defRPr>
            </a:pPr>
            <a:r>
              <a:t>• Unusual Category / MCC (Max Weight +0.12)</a:t>
            </a:r>
          </a:p>
          <a:p>
            <a:pPr>
              <a:defRPr sz="900">
                <a:solidFill>
                  <a:srgbClr val="645F58"/>
                </a:solidFill>
              </a:defRPr>
            </a:pPr>
            <a:r>
              <a:t>Flags merchant category codes never before encountered in cardholder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